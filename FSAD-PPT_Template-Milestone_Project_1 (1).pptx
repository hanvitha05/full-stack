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Default Extension="svg" ContentType="image/svg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6" r:id="rId8"/>
    <p:sldId id="262" r:id="rId9"/>
    <p:sldId id="263" r:id="rId10"/>
    <p:sldId id="271" r:id="rId11"/>
    <p:sldId id="272" r:id="rId12"/>
    <p:sldId id="273" r:id="rId13"/>
    <p:sldId id="266" r:id="rId14"/>
    <p:sldId id="274" r:id="rId15"/>
    <p:sldId id="275" r:id="rId16"/>
    <p:sldId id="269" r:id="rId17"/>
    <p:sldId id="270" r:id="rId18"/>
    <p:sldId id="265" r:id="rId19"/>
  </p:sldIdLst>
  <p:sldSz cx="18288000" cy="10287000"/>
  <p:notesSz cx="6858000" cy="9144000"/>
  <p:embeddedFontLst>
    <p:embeddedFont>
      <p:font typeface="Calibri" pitchFamily="34" charset="0"/>
      <p:regular r:id="rId20"/>
      <p:bold r:id="rId21"/>
      <p:italic r:id="rId22"/>
      <p:boldItalic r:id="rId23"/>
    </p:embeddedFont>
    <p:embeddedFont>
      <p:font typeface="Cambria" pitchFamily="18" charset="0"/>
      <p:regular r:id="rId24"/>
      <p:bold r:id="rId25"/>
      <p:italic r:id="rId26"/>
      <p:boldItalic r:id="rId27"/>
    </p:embeddedFont>
    <p:embeddedFont>
      <p:font typeface="Bookman Old Style" pitchFamily="18" charset="0"/>
      <p:regular r:id="rId28"/>
      <p:bold r:id="rId29"/>
      <p:italic r:id="rId30"/>
      <p:boldItalic r:id="rId31"/>
    </p:embeddedFont>
    <p:embeddedFont>
      <p:font typeface="Gotham" charset="0"/>
      <p:regular r:id="rId32"/>
    </p:embeddedFont>
    <p:embeddedFont>
      <p:font typeface="Gotham Bold Italics" charset="0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4" d="100"/>
          <a:sy n="44" d="100"/>
        </p:scale>
        <p:origin x="-876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font" Target="fonts/font1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xmlns="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xmlns="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: MILESTONE PROJECT – 1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</a:t>
            </a:r>
            <a:r>
              <a:rPr lang="en-IN" sz="36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25-03-2026</a:t>
            </a:r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7FFE0DA2-4723-7C13-5FD7-FC99B0394DDD}"/>
              </a:ext>
            </a:extLst>
          </p:cNvPr>
          <p:cNvSpPr txBox="1"/>
          <p:nvPr/>
        </p:nvSpPr>
        <p:spPr>
          <a:xfrm>
            <a:off x="1501640" y="6057900"/>
            <a:ext cx="15784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 smtClean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Full-Stack Skill Learning Academy Marketplace with Secure Authentication</a:t>
            </a:r>
            <a:endParaRPr lang="en-IN" sz="32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EA8EEF4A-EB43-B7D9-87FC-7C7D752BCA78}"/>
              </a:ext>
            </a:extLst>
          </p:cNvPr>
          <p:cNvSpPr txBox="1"/>
          <p:nvPr/>
        </p:nvSpPr>
        <p:spPr>
          <a:xfrm>
            <a:off x="893870" y="7800539"/>
            <a:ext cx="9067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 smtClean="0">
                <a:latin typeface="Cambria" panose="02040503050406030204" pitchFamily="18" charset="0"/>
                <a:ea typeface="Cambria" panose="02040503050406030204" pitchFamily="18" charset="0"/>
              </a:rPr>
              <a:t>BINGAMALLA HANVITHA 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– </a:t>
            </a:r>
            <a:r>
              <a:rPr lang="en-US" sz="3000" dirty="0" smtClean="0">
                <a:latin typeface="Cambria" panose="02040503050406030204" pitchFamily="18" charset="0"/>
                <a:ea typeface="Cambria" panose="02040503050406030204" pitchFamily="18" charset="0"/>
              </a:rPr>
              <a:t>VTU25643– 23UECS1026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6FF32D1A-2F9C-AC53-CCBD-ABF748DF236F}"/>
              </a:ext>
            </a:extLst>
          </p:cNvPr>
          <p:cNvSpPr txBox="1"/>
          <p:nvPr/>
        </p:nvSpPr>
        <p:spPr>
          <a:xfrm>
            <a:off x="10945035" y="7818586"/>
            <a:ext cx="6914603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Dr</a:t>
            </a:r>
            <a:r>
              <a:rPr lang="en-US" sz="3000" dirty="0" smtClean="0">
                <a:latin typeface="Cambria" panose="02040503050406030204" pitchFamily="18" charset="0"/>
                <a:ea typeface="Cambria" panose="02040503050406030204" pitchFamily="18" charset="0"/>
              </a:rPr>
              <a:t>. S. HEMAMALINI, M.E., Ph.D.  </a:t>
            </a:r>
          </a:p>
          <a:p>
            <a:pPr>
              <a:lnSpc>
                <a:spcPct val="150000"/>
              </a:lnSpc>
            </a:pPr>
            <a:r>
              <a:rPr lang="en-US" sz="3000" dirty="0" smtClean="0">
                <a:latin typeface="Cambria" panose="02040503050406030204" pitchFamily="18" charset="0"/>
                <a:ea typeface="Cambria" panose="02040503050406030204" pitchFamily="18" charset="0"/>
              </a:rPr>
              <a:t>Assistant Professor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A7AA51DE-E8D7-A1B4-BC0D-B25C8A0C467A}"/>
              </a:ext>
            </a:extLst>
          </p:cNvPr>
          <p:cNvSpPr txBox="1"/>
          <p:nvPr/>
        </p:nvSpPr>
        <p:spPr>
          <a:xfrm>
            <a:off x="2209800" y="6972300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SDG: SDG No – </a:t>
            </a: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SDG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4 – Quality </a:t>
            </a: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Education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DE796552-E8BF-2718-F921-20F9BAE7EE98}"/>
              </a:ext>
            </a:extLst>
          </p:cNvPr>
          <p:cNvSpPr txBox="1"/>
          <p:nvPr/>
        </p:nvSpPr>
        <p:spPr>
          <a:xfrm>
            <a:off x="152400" y="3429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837E9E58-77B6-079D-9D0D-E380CADAD23D}"/>
              </a:ext>
            </a:extLst>
          </p:cNvPr>
          <p:cNvSpPr txBox="1"/>
          <p:nvPr/>
        </p:nvSpPr>
        <p:spPr>
          <a:xfrm>
            <a:off x="2209800" y="2400300"/>
            <a:ext cx="15082325" cy="11295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In today’s digital world, online learning platforms are widely used for skill development. </a:t>
            </a:r>
          </a:p>
          <a:p>
            <a:pPr marL="457200" indent="-4572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However, many small-scale systems lack proper structure, security, and user management. </a:t>
            </a:r>
          </a:p>
          <a:p>
            <a:pPr marL="457200" indent="-4572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This project focuses on developing a full-stack web application for a Skill Learning Academy. </a:t>
            </a:r>
          </a:p>
          <a:p>
            <a:pPr marL="457200" indent="-4572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It allows users to register, login, and view courses dynamically. </a:t>
            </a:r>
          </a:p>
          <a:p>
            <a:pPr marL="457200" indent="-4572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The system uses modern technologies like React, Node.js, and </a:t>
            </a:r>
            <a:r>
              <a:rPr lang="en-GB" sz="2800" dirty="0" err="1" smtClean="0">
                <a:latin typeface="Times New Roman" pitchFamily="18" charset="0"/>
                <a:cs typeface="Times New Roman" pitchFamily="18" charset="0"/>
              </a:rPr>
              <a:t>MongoDB</a:t>
            </a: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marL="457200" indent="-4572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It ensures secure authentication and efficient data handling. </a:t>
            </a:r>
          </a:p>
          <a:p>
            <a:pPr marL="457200" indent="-4572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This project demonstrates real-world application of full-stack development. </a:t>
            </a:r>
          </a:p>
          <a:p>
            <a:pPr marL="457200" indent="-4572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It helps improve accessibility to learning resources.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32" name="Freeform 45">
            <a:extLst>
              <a:ext uri="{FF2B5EF4-FFF2-40B4-BE49-F238E27FC236}">
                <a16:creationId xmlns:a16="http://schemas.microsoft.com/office/drawing/2014/main" xmlns="" id="{25583CD3-FA12-1B53-043B-9FE4E18BA021}"/>
              </a:ext>
            </a:extLst>
          </p:cNvPr>
          <p:cNvSpPr/>
          <p:nvPr/>
        </p:nvSpPr>
        <p:spPr>
          <a:xfrm>
            <a:off x="16786360" y="-353712"/>
            <a:ext cx="10994424" cy="10994424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ln w="619125" cap="sq">
            <a:solidFill>
              <a:srgbClr val="FD6220">
                <a:alpha val="11765"/>
              </a:srgbClr>
            </a:solidFill>
            <a:prstDash val="solid"/>
            <a:miter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xmlns="" id="{A8A7B8E9-D90B-1CF8-14D3-8D2483CAFC5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xmlns="" id="{BDE2941C-1504-53F9-99B2-48002CA9A345}"/>
              </a:ext>
            </a:extLst>
          </p:cNvPr>
          <p:cNvSpPr txBox="1"/>
          <p:nvPr/>
        </p:nvSpPr>
        <p:spPr>
          <a:xfrm>
            <a:off x="2133600" y="2324100"/>
            <a:ext cx="15082325" cy="4549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Many existing learning systems are not fully automated and lack secure authentication. </a:t>
            </a:r>
          </a:p>
          <a:p>
            <a:pPr marL="457200" indent="-4572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Manual handling of user data leads to inefficiency and errors. </a:t>
            </a:r>
          </a:p>
          <a:p>
            <a:pPr marL="457200" indent="-4572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There is no centralized system to manage courses and users effectively. </a:t>
            </a:r>
          </a:p>
          <a:p>
            <a:pPr marL="457200" indent="-4572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Users face difficulty in accessing course information dynamically. </a:t>
            </a:r>
          </a:p>
          <a:p>
            <a:pPr marL="457200" indent="-4572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Also, data security is often not properly maintained. </a:t>
            </a:r>
          </a:p>
          <a:p>
            <a:pPr marL="457200" indent="-4572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Therefore, there is a need for a simple, secure, and automated system for managing online learning platforms.</a:t>
            </a:r>
            <a:endParaRPr lang="en-IN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" name="Freeform 45">
            <a:extLst>
              <a:ext uri="{FF2B5EF4-FFF2-40B4-BE49-F238E27FC236}">
                <a16:creationId xmlns:a16="http://schemas.microsoft.com/office/drawing/2014/main" xmlns="" id="{25583CD3-FA12-1B53-043B-9FE4E18BA021}"/>
              </a:ext>
            </a:extLst>
          </p:cNvPr>
          <p:cNvSpPr/>
          <p:nvPr/>
        </p:nvSpPr>
        <p:spPr>
          <a:xfrm>
            <a:off x="16786360" y="-353712"/>
            <a:ext cx="10994424" cy="10994424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ln w="619125" cap="sq">
            <a:solidFill>
              <a:srgbClr val="FD6220">
                <a:alpha val="11765"/>
              </a:srgbClr>
            </a:solidFill>
            <a:prstDash val="solid"/>
            <a:miter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xmlns="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:a16="http://schemas.microsoft.com/office/drawing/2014/main" xmlns="" id="{CC7EEF9B-9155-23B5-AEE9-85067B6C258B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xmlns="" id="{056A0A3A-1541-5EC0-5370-02DA282ABDDE}"/>
              </a:ext>
            </a:extLst>
          </p:cNvPr>
          <p:cNvSpPr txBox="1"/>
          <p:nvPr/>
        </p:nvSpPr>
        <p:spPr>
          <a:xfrm>
            <a:off x="2133600" y="2400300"/>
            <a:ext cx="15082325" cy="3257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To design and develop a full-stack skill learning platform</a:t>
            </a:r>
          </a:p>
          <a:p>
            <a:pPr marL="457200" indent="-4572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To implement secure user authentication using JWT and </a:t>
            </a:r>
            <a:r>
              <a:rPr lang="en-GB" sz="2800" dirty="0" err="1" smtClean="0">
                <a:latin typeface="Times New Roman" pitchFamily="18" charset="0"/>
                <a:cs typeface="Times New Roman" pitchFamily="18" charset="0"/>
              </a:rPr>
              <a:t>bcrypt</a:t>
            </a:r>
            <a:endParaRPr lang="en-GB" sz="28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To store and manage user and course data in </a:t>
            </a:r>
            <a:r>
              <a:rPr lang="en-GB" sz="2800" dirty="0" err="1" smtClean="0">
                <a:latin typeface="Times New Roman" pitchFamily="18" charset="0"/>
                <a:cs typeface="Times New Roman" pitchFamily="18" charset="0"/>
              </a:rPr>
              <a:t>MongoDB</a:t>
            </a:r>
            <a:endParaRPr lang="en-GB" sz="28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To display courses dynamically on the frontend</a:t>
            </a:r>
          </a:p>
          <a:p>
            <a:pPr marL="457200" indent="-4572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To improve efficiency and reduce manual data handling</a:t>
            </a:r>
            <a:endParaRPr lang="en-IN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" name="Freeform 45">
            <a:extLst>
              <a:ext uri="{FF2B5EF4-FFF2-40B4-BE49-F238E27FC236}">
                <a16:creationId xmlns:a16="http://schemas.microsoft.com/office/drawing/2014/main" xmlns="" id="{25583CD3-FA12-1B53-043B-9FE4E18BA021}"/>
              </a:ext>
            </a:extLst>
          </p:cNvPr>
          <p:cNvSpPr/>
          <p:nvPr/>
        </p:nvSpPr>
        <p:spPr>
          <a:xfrm>
            <a:off x="16786360" y="-353712"/>
            <a:ext cx="10994424" cy="10994424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ln w="619125" cap="sq">
            <a:solidFill>
              <a:srgbClr val="FD6220">
                <a:alpha val="11765"/>
              </a:srgbClr>
            </a:solidFill>
            <a:prstDash val="solid"/>
            <a:miter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xmlns="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xmlns="" id="{E7218D14-8F44-8040-8BFD-49A59591F527}"/>
              </a:ext>
            </a:extLst>
          </p:cNvPr>
          <p:cNvSpPr txBox="1"/>
          <p:nvPr/>
        </p:nvSpPr>
        <p:spPr>
          <a:xfrm>
            <a:off x="152400" y="42630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xmlns="" id="{E8F19716-1653-9AE0-442E-B3829A585B46}"/>
              </a:ext>
            </a:extLst>
          </p:cNvPr>
          <p:cNvSpPr txBox="1"/>
          <p:nvPr/>
        </p:nvSpPr>
        <p:spPr>
          <a:xfrm>
            <a:off x="2209800" y="2400300"/>
            <a:ext cx="15082325" cy="51961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Provides user registration and login</a:t>
            </a:r>
          </a:p>
          <a:p>
            <a:pPr marL="457200" indent="-4572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Uses secure authentication (JWT, </a:t>
            </a:r>
            <a:r>
              <a:rPr lang="en-IN" sz="2800" dirty="0" err="1" smtClean="0">
                <a:latin typeface="Times New Roman" pitchFamily="18" charset="0"/>
                <a:cs typeface="Times New Roman" pitchFamily="18" charset="0"/>
              </a:rPr>
              <a:t>bcrypt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457200" indent="-4572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Stores data in </a:t>
            </a:r>
            <a:r>
              <a:rPr lang="en-IN" sz="2800" dirty="0" err="1" smtClean="0">
                <a:latin typeface="Times New Roman" pitchFamily="18" charset="0"/>
                <a:cs typeface="Times New Roman" pitchFamily="18" charset="0"/>
              </a:rPr>
              <a:t>MongoDB</a:t>
            </a:r>
            <a:endParaRPr lang="en-IN" sz="28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Displays courses dynamically</a:t>
            </a:r>
          </a:p>
          <a:p>
            <a:pPr marL="457200" indent="-4572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Reduces manual work</a:t>
            </a:r>
          </a:p>
          <a:p>
            <a:pPr marL="457200" indent="-4572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Improves data accuracy</a:t>
            </a:r>
          </a:p>
          <a:p>
            <a:pPr marL="457200" indent="-4572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Scalable and efficient system</a:t>
            </a:r>
          </a:p>
          <a:p>
            <a:pPr marL="457200" indent="-4572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User-friendly interface</a:t>
            </a:r>
            <a:endParaRPr lang="en-IN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0" name="Freeform 45">
            <a:extLst>
              <a:ext uri="{FF2B5EF4-FFF2-40B4-BE49-F238E27FC236}">
                <a16:creationId xmlns:a16="http://schemas.microsoft.com/office/drawing/2014/main" xmlns="" id="{25583CD3-FA12-1B53-043B-9FE4E18BA021}"/>
              </a:ext>
            </a:extLst>
          </p:cNvPr>
          <p:cNvSpPr/>
          <p:nvPr/>
        </p:nvSpPr>
        <p:spPr>
          <a:xfrm>
            <a:off x="16786360" y="-353712"/>
            <a:ext cx="10994424" cy="10994424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ln w="619125" cap="sq">
            <a:solidFill>
              <a:srgbClr val="FD6220">
                <a:alpha val="11765"/>
              </a:srgbClr>
            </a:solidFill>
            <a:prstDash val="solid"/>
            <a:miter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 dirty="0" smtClean="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5a</a:t>
              </a:r>
              <a:endParaRPr lang="en-US" sz="2699" dirty="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xmlns="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xmlns="" id="{A4B3B85F-0C7B-16B9-6D50-94A4DFD2D192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xmlns="" id="{25F9D4B0-38FE-DBA4-164D-1745B68379A5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/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35" name="Freeform 45">
            <a:extLst>
              <a:ext uri="{FF2B5EF4-FFF2-40B4-BE49-F238E27FC236}">
                <a16:creationId xmlns:a16="http://schemas.microsoft.com/office/drawing/2014/main" xmlns="" id="{25583CD3-FA12-1B53-043B-9FE4E18BA021}"/>
              </a:ext>
            </a:extLst>
          </p:cNvPr>
          <p:cNvSpPr/>
          <p:nvPr/>
        </p:nvSpPr>
        <p:spPr>
          <a:xfrm>
            <a:off x="16786360" y="-353712"/>
            <a:ext cx="10994424" cy="10994424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ln w="619125" cap="sq">
            <a:solidFill>
              <a:srgbClr val="FD6220">
                <a:alpha val="11765"/>
              </a:srgbClr>
            </a:solidFill>
            <a:prstDash val="solid"/>
            <a:miter/>
          </a:ln>
        </p:spPr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657600" y="1714501"/>
            <a:ext cx="10744200" cy="701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 dirty="0" smtClean="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5b</a:t>
              </a:r>
              <a:endParaRPr lang="en-US" sz="2699" dirty="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4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5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8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1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14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0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xmlns="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xmlns="" id="{A4B3B85F-0C7B-16B9-6D50-94A4DFD2D192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xmlns="" id="{25F9D4B0-38FE-DBA4-164D-1745B68379A5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/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35" name="Freeform 45">
            <a:extLst>
              <a:ext uri="{FF2B5EF4-FFF2-40B4-BE49-F238E27FC236}">
                <a16:creationId xmlns:a16="http://schemas.microsoft.com/office/drawing/2014/main" xmlns="" id="{25583CD3-FA12-1B53-043B-9FE4E18BA021}"/>
              </a:ext>
            </a:extLst>
          </p:cNvPr>
          <p:cNvSpPr/>
          <p:nvPr/>
        </p:nvSpPr>
        <p:spPr>
          <a:xfrm>
            <a:off x="16786360" y="-353712"/>
            <a:ext cx="10994424" cy="10994424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ln w="619125" cap="sq">
            <a:solidFill>
              <a:srgbClr val="FD6220">
                <a:alpha val="11765"/>
              </a:srgbClr>
            </a:solidFill>
            <a:prstDash val="solid"/>
            <a:miter/>
          </a:ln>
        </p:spPr>
      </p:sp>
      <p:sp>
        <p:nvSpPr>
          <p:cNvPr id="34" name="TextBox 33"/>
          <p:cNvSpPr txBox="1"/>
          <p:nvPr/>
        </p:nvSpPr>
        <p:spPr>
          <a:xfrm>
            <a:off x="2743200" y="2095500"/>
            <a:ext cx="12268200" cy="62786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Input:</a:t>
            </a:r>
          </a:p>
          <a:p>
            <a:pPr algn="just">
              <a:lnSpc>
                <a:spcPct val="150000"/>
              </a:lnSpc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User enters email &amp; password</a:t>
            </a:r>
          </a:p>
          <a:p>
            <a:pPr algn="just">
              <a:lnSpc>
                <a:spcPct val="150000"/>
              </a:lnSpc>
            </a:pP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Processing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just">
              <a:lnSpc>
                <a:spcPct val="150000"/>
              </a:lnSpc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Backend validates user</a:t>
            </a:r>
          </a:p>
          <a:p>
            <a:pPr algn="just">
              <a:lnSpc>
                <a:spcPct val="150000"/>
              </a:lnSpc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Authentication using JWT &amp;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bcrypt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Database:</a:t>
            </a:r>
            <a:endParaRPr lang="en-US" sz="28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Stores users and courses</a:t>
            </a:r>
          </a:p>
          <a:p>
            <a:pPr algn="just">
              <a:lnSpc>
                <a:spcPct val="150000"/>
              </a:lnSpc>
            </a:pP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Output:</a:t>
            </a:r>
            <a:endParaRPr lang="en-US" sz="28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Displays courses on UI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xmlns="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xmlns="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Freeform 45">
            <a:extLst>
              <a:ext uri="{FF2B5EF4-FFF2-40B4-BE49-F238E27FC236}">
                <a16:creationId xmlns:a16="http://schemas.microsoft.com/office/drawing/2014/main" xmlns="" id="{25583CD3-FA12-1B53-043B-9FE4E18BA021}"/>
              </a:ext>
            </a:extLst>
          </p:cNvPr>
          <p:cNvSpPr/>
          <p:nvPr/>
        </p:nvSpPr>
        <p:spPr>
          <a:xfrm>
            <a:off x="16786360" y="-353712"/>
            <a:ext cx="10994424" cy="10994424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ln w="619125" cap="sq">
            <a:solidFill>
              <a:srgbClr val="FD6220">
                <a:alpha val="11765"/>
              </a:srgbClr>
            </a:solidFill>
            <a:prstDash val="solid"/>
            <a:miter/>
          </a:ln>
        </p:spPr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591050" y="1985963"/>
            <a:ext cx="9105900" cy="6315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xmlns="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xmlns="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xmlns="" id="{26E9F5F9-CCF8-6F05-4C01-034C88D7529E}"/>
              </a:ext>
            </a:extLst>
          </p:cNvPr>
          <p:cNvSpPr txBox="1"/>
          <p:nvPr/>
        </p:nvSpPr>
        <p:spPr>
          <a:xfrm>
            <a:off x="2209800" y="2628900"/>
            <a:ext cx="1508232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IN" sz="3200" b="1" dirty="0" smtClean="0">
                <a:latin typeface="Times New Roman" pitchFamily="18" charset="0"/>
                <a:cs typeface="Times New Roman" pitchFamily="18" charset="0"/>
              </a:rPr>
              <a:t>Frontend: 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React.js</a:t>
            </a:r>
          </a:p>
          <a:p>
            <a:pPr marL="457200" indent="-4572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IN" sz="3200" b="1" dirty="0" smtClean="0">
                <a:latin typeface="Times New Roman" pitchFamily="18" charset="0"/>
                <a:cs typeface="Times New Roman" pitchFamily="18" charset="0"/>
              </a:rPr>
              <a:t>Backend: 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Node.js, Express.js</a:t>
            </a:r>
          </a:p>
          <a:p>
            <a:pPr marL="457200" indent="-4572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IN" sz="3200" b="1" dirty="0" smtClean="0">
                <a:latin typeface="Times New Roman" pitchFamily="18" charset="0"/>
                <a:cs typeface="Times New Roman" pitchFamily="18" charset="0"/>
              </a:rPr>
              <a:t>Database: </a:t>
            </a:r>
            <a:r>
              <a:rPr lang="en-IN" sz="2800" dirty="0" err="1" smtClean="0">
                <a:latin typeface="Times New Roman" pitchFamily="18" charset="0"/>
                <a:cs typeface="Times New Roman" pitchFamily="18" charset="0"/>
              </a:rPr>
              <a:t>MongoDB</a:t>
            </a:r>
            <a:endParaRPr lang="en-IN" sz="28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IN" sz="3200" b="1" dirty="0" smtClean="0">
                <a:latin typeface="Times New Roman" pitchFamily="18" charset="0"/>
                <a:cs typeface="Times New Roman" pitchFamily="18" charset="0"/>
              </a:rPr>
              <a:t>Tools: 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VS Code, Postman</a:t>
            </a:r>
          </a:p>
          <a:p>
            <a:pPr marL="457200" indent="-4572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IN" sz="3200" b="1" dirty="0" smtClean="0">
                <a:latin typeface="Times New Roman" pitchFamily="18" charset="0"/>
                <a:cs typeface="Times New Roman" pitchFamily="18" charset="0"/>
              </a:rPr>
              <a:t>Requirements: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 Laptop, Internet, Node.js</a:t>
            </a:r>
            <a:endParaRPr lang="en-IN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9" name="Freeform 45">
            <a:extLst>
              <a:ext uri="{FF2B5EF4-FFF2-40B4-BE49-F238E27FC236}">
                <a16:creationId xmlns:a16="http://schemas.microsoft.com/office/drawing/2014/main" xmlns="" id="{25583CD3-FA12-1B53-043B-9FE4E18BA021}"/>
              </a:ext>
            </a:extLst>
          </p:cNvPr>
          <p:cNvSpPr/>
          <p:nvPr/>
        </p:nvSpPr>
        <p:spPr>
          <a:xfrm>
            <a:off x="16786360" y="-353712"/>
            <a:ext cx="10994424" cy="10994424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ln w="619125" cap="sq">
            <a:solidFill>
              <a:srgbClr val="FD6220">
                <a:alpha val="11765"/>
              </a:srgbClr>
            </a:solidFill>
            <a:prstDash val="solid"/>
            <a:miter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 dirty="0" smtClean="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8a</a:t>
              </a:r>
              <a:endParaRPr lang="en-US" sz="2699" dirty="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4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5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6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7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0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3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16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7" name="TextBox 37"/>
          <p:cNvSpPr txBox="1"/>
          <p:nvPr/>
        </p:nvSpPr>
        <p:spPr>
          <a:xfrm>
            <a:off x="18201397" y="465626"/>
            <a:ext cx="8932970" cy="9319492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xmlns="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xmlns="" id="{9304C197-EAC7-7A26-FAED-ED7302DBEC6E}"/>
              </a:ext>
            </a:extLst>
          </p:cNvPr>
          <p:cNvSpPr txBox="1"/>
          <p:nvPr/>
        </p:nvSpPr>
        <p:spPr>
          <a:xfrm>
            <a:off x="2133600" y="2095500"/>
            <a:ext cx="15082325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3200" b="1" dirty="0" smtClean="0">
                <a:latin typeface="Times New Roman" pitchFamily="18" charset="0"/>
                <a:cs typeface="Times New Roman" pitchFamily="18" charset="0"/>
              </a:rPr>
              <a:t>Module 1: User Management: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IN" sz="28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Handles user registration and login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 Validates user input data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 Encrypts passwords securely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 Stores user details in database</a:t>
            </a:r>
          </a:p>
          <a:p>
            <a:pPr algn="just">
              <a:lnSpc>
                <a:spcPct val="150000"/>
              </a:lnSpc>
            </a:pPr>
            <a:r>
              <a:rPr lang="en-IN" sz="28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3200" b="1" dirty="0" smtClean="0">
                <a:latin typeface="Times New Roman" pitchFamily="18" charset="0"/>
                <a:cs typeface="Times New Roman" pitchFamily="18" charset="0"/>
              </a:rPr>
              <a:t>Module 2: Authentication &amp; Authorization:</a:t>
            </a:r>
            <a:endParaRPr lang="en-IN" sz="28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 Verifies user credentials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 Generates JWT token for security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 Controls access to system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 Prevents unauthorized usage</a:t>
            </a:r>
            <a:endParaRPr lang="en-IN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5" name="Freeform 45">
            <a:extLst>
              <a:ext uri="{FF2B5EF4-FFF2-40B4-BE49-F238E27FC236}">
                <a16:creationId xmlns:a16="http://schemas.microsoft.com/office/drawing/2014/main" xmlns="" id="{25583CD3-FA12-1B53-043B-9FE4E18BA021}"/>
              </a:ext>
            </a:extLst>
          </p:cNvPr>
          <p:cNvSpPr/>
          <p:nvPr/>
        </p:nvSpPr>
        <p:spPr>
          <a:xfrm>
            <a:off x="16786360" y="-353712"/>
            <a:ext cx="10994424" cy="10994424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ln w="619125" cap="sq">
            <a:solidFill>
              <a:srgbClr val="FD6220">
                <a:alpha val="11765"/>
              </a:srgbClr>
            </a:solidFill>
            <a:prstDash val="solid"/>
            <a:miter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 dirty="0" smtClean="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8b</a:t>
              </a:r>
              <a:endParaRPr lang="en-US" sz="2699" dirty="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4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5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6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7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0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3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16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7" name="TextBox 37"/>
          <p:cNvSpPr txBox="1"/>
          <p:nvPr/>
        </p:nvSpPr>
        <p:spPr>
          <a:xfrm>
            <a:off x="18201397" y="465626"/>
            <a:ext cx="8932970" cy="9319492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xmlns="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xmlns="" id="{9304C197-EAC7-7A26-FAED-ED7302DBEC6E}"/>
              </a:ext>
            </a:extLst>
          </p:cNvPr>
          <p:cNvSpPr txBox="1"/>
          <p:nvPr/>
        </p:nvSpPr>
        <p:spPr>
          <a:xfrm>
            <a:off x="2133600" y="2247900"/>
            <a:ext cx="15082325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3200" b="1" dirty="0" smtClean="0">
                <a:latin typeface="Times New Roman" pitchFamily="18" charset="0"/>
                <a:cs typeface="Times New Roman" pitchFamily="18" charset="0"/>
              </a:rPr>
              <a:t>Module 3: Course Management: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 Stores course details in database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 Retrieves courses dynamically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 Displays courses on frontend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 Supports easy course updates</a:t>
            </a:r>
          </a:p>
          <a:p>
            <a:pPr algn="just">
              <a:lnSpc>
                <a:spcPct val="150000"/>
              </a:lnSpc>
            </a:pPr>
            <a:r>
              <a:rPr lang="en-IN" sz="3200" b="1" dirty="0" smtClean="0">
                <a:latin typeface="Times New Roman" pitchFamily="18" charset="0"/>
                <a:cs typeface="Times New Roman" pitchFamily="18" charset="0"/>
              </a:rPr>
              <a:t>Module 4: Backend Processing: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 Handles API requests from frontend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 Implements business logic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 Processes user data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 Connects frontend and database</a:t>
            </a:r>
            <a:endParaRPr lang="en-IN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5" name="Freeform 45">
            <a:extLst>
              <a:ext uri="{FF2B5EF4-FFF2-40B4-BE49-F238E27FC236}">
                <a16:creationId xmlns:a16="http://schemas.microsoft.com/office/drawing/2014/main" xmlns="" id="{25583CD3-FA12-1B53-043B-9FE4E18BA021}"/>
              </a:ext>
            </a:extLst>
          </p:cNvPr>
          <p:cNvSpPr/>
          <p:nvPr/>
        </p:nvSpPr>
        <p:spPr>
          <a:xfrm>
            <a:off x="16786360" y="-353712"/>
            <a:ext cx="10994424" cy="10994424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ln w="619125" cap="sq">
            <a:solidFill>
              <a:srgbClr val="FD6220">
                <a:alpha val="11765"/>
              </a:srgbClr>
            </a:solidFill>
            <a:prstDash val="solid"/>
            <a:miter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 dirty="0" smtClean="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8c</a:t>
              </a:r>
              <a:endParaRPr lang="en-US" sz="2699" dirty="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4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5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6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7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0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3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16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7" name="TextBox 37"/>
          <p:cNvSpPr txBox="1"/>
          <p:nvPr/>
        </p:nvSpPr>
        <p:spPr>
          <a:xfrm>
            <a:off x="18201397" y="465626"/>
            <a:ext cx="8932970" cy="9319492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xmlns="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xmlns="" id="{9304C197-EAC7-7A26-FAED-ED7302DBEC6E}"/>
              </a:ext>
            </a:extLst>
          </p:cNvPr>
          <p:cNvSpPr txBox="1"/>
          <p:nvPr/>
        </p:nvSpPr>
        <p:spPr>
          <a:xfrm>
            <a:off x="2133600" y="2247900"/>
            <a:ext cx="15082325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3200" b="1" dirty="0" smtClean="0">
                <a:latin typeface="Times New Roman" pitchFamily="18" charset="0"/>
                <a:cs typeface="Times New Roman" pitchFamily="18" charset="0"/>
              </a:rPr>
              <a:t>Module 5: Database Management:</a:t>
            </a:r>
            <a:endParaRPr lang="en-IN" sz="28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 Stores user and course data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 Uses </a:t>
            </a:r>
            <a:r>
              <a:rPr lang="en-IN" sz="2800" dirty="0" err="1" smtClean="0">
                <a:latin typeface="Times New Roman" pitchFamily="18" charset="0"/>
                <a:cs typeface="Times New Roman" pitchFamily="18" charset="0"/>
              </a:rPr>
              <a:t>MongoDB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 for data handling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 Performs CRUD operations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 Ensures data consistency</a:t>
            </a:r>
          </a:p>
          <a:p>
            <a:pPr algn="just">
              <a:lnSpc>
                <a:spcPct val="150000"/>
              </a:lnSpc>
            </a:pPr>
            <a:r>
              <a:rPr lang="en-IN" sz="3200" b="1" dirty="0" smtClean="0">
                <a:latin typeface="Times New Roman" pitchFamily="18" charset="0"/>
                <a:cs typeface="Times New Roman" pitchFamily="18" charset="0"/>
              </a:rPr>
              <a:t>Module 6: Frontend Interface:</a:t>
            </a:r>
            <a:endParaRPr lang="en-IN" sz="28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 Provides user-friendly UI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 Accepts user input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 Displays course information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 Communicates with backend APIs</a:t>
            </a:r>
            <a:endParaRPr lang="en-IN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5" name="Freeform 45">
            <a:extLst>
              <a:ext uri="{FF2B5EF4-FFF2-40B4-BE49-F238E27FC236}">
                <a16:creationId xmlns:a16="http://schemas.microsoft.com/office/drawing/2014/main" xmlns="" id="{25583CD3-FA12-1B53-043B-9FE4E18BA021}"/>
              </a:ext>
            </a:extLst>
          </p:cNvPr>
          <p:cNvSpPr/>
          <p:nvPr/>
        </p:nvSpPr>
        <p:spPr>
          <a:xfrm>
            <a:off x="16786360" y="-353712"/>
            <a:ext cx="10994424" cy="10994424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ln w="619125" cap="sq">
            <a:solidFill>
              <a:srgbClr val="FD6220">
                <a:alpha val="11765"/>
              </a:srgbClr>
            </a:solidFill>
            <a:prstDash val="solid"/>
            <a:miter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>
            <a:extLst>
              <a:ext uri="{FF2B5EF4-FFF2-40B4-BE49-F238E27FC236}">
                <a16:creationId xmlns:a16="http://schemas.microsoft.com/office/drawing/2014/main" xmlns="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xmlns="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xmlns="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xmlns="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xmlns="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xmlns="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xmlns="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xmlns="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xmlns="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xmlns="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xmlns="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xmlns="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xmlns="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xmlns="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xmlns="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xmlns="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xmlns="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xmlns="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xmlns="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xmlns="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xmlns="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xmlns="" id="{A8A0868D-7450-B2DC-5A6A-A607E39122E3}"/>
              </a:ext>
            </a:extLst>
          </p:cNvPr>
          <p:cNvGrpSpPr/>
          <p:nvPr/>
        </p:nvGrpSpPr>
        <p:grpSpPr>
          <a:xfrm>
            <a:off x="990600" y="6743700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xmlns="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xmlns="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GB" sz="1700" dirty="0" smtClean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1700" dirty="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xmlns="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xmlns="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xmlns="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xmlns="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xmlns="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8" name="Group 7"/>
          <p:cNvGrpSpPr/>
          <p:nvPr/>
        </p:nvGrpSpPr>
        <p:grpSpPr>
          <a:xfrm>
            <a:off x="762000" y="7353300"/>
            <a:ext cx="992463" cy="992463"/>
            <a:chOff x="0" y="0"/>
            <a:chExt cx="812800" cy="812800"/>
          </a:xfrm>
        </p:grpSpPr>
        <p:sp>
          <p:nvSpPr>
            <p:cNvPr id="39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40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GB" sz="2699" dirty="0" smtClean="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9a</a:t>
              </a:r>
              <a:endParaRPr lang="en-US" sz="2699" dirty="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505200" y="1866900"/>
            <a:ext cx="12649200" cy="7029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19981011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0">
            <a:extLst>
              <a:ext uri="{FF2B5EF4-FFF2-40B4-BE49-F238E27FC236}">
                <a16:creationId xmlns:a16="http://schemas.microsoft.com/office/drawing/2014/main" xmlns="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xmlns="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xmlns="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3" name="Group 13">
            <a:extLst>
              <a:ext uri="{FF2B5EF4-FFF2-40B4-BE49-F238E27FC236}">
                <a16:creationId xmlns:a16="http://schemas.microsoft.com/office/drawing/2014/main" xmlns="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xmlns="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xmlns="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4" name="Group 16">
            <a:extLst>
              <a:ext uri="{FF2B5EF4-FFF2-40B4-BE49-F238E27FC236}">
                <a16:creationId xmlns:a16="http://schemas.microsoft.com/office/drawing/2014/main" xmlns="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xmlns="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xmlns="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5" name="Group 19">
            <a:extLst>
              <a:ext uri="{FF2B5EF4-FFF2-40B4-BE49-F238E27FC236}">
                <a16:creationId xmlns:a16="http://schemas.microsoft.com/office/drawing/2014/main" xmlns="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xmlns="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xmlns="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6" name="Group 22">
            <a:extLst>
              <a:ext uri="{FF2B5EF4-FFF2-40B4-BE49-F238E27FC236}">
                <a16:creationId xmlns:a16="http://schemas.microsoft.com/office/drawing/2014/main" xmlns="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xmlns="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xmlns="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7" name="Group 25">
            <a:extLst>
              <a:ext uri="{FF2B5EF4-FFF2-40B4-BE49-F238E27FC236}">
                <a16:creationId xmlns:a16="http://schemas.microsoft.com/office/drawing/2014/main" xmlns="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xmlns="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xmlns="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28">
            <a:extLst>
              <a:ext uri="{FF2B5EF4-FFF2-40B4-BE49-F238E27FC236}">
                <a16:creationId xmlns:a16="http://schemas.microsoft.com/office/drawing/2014/main" xmlns="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xmlns="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xmlns="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9" name="Group 31">
            <a:extLst>
              <a:ext uri="{FF2B5EF4-FFF2-40B4-BE49-F238E27FC236}">
                <a16:creationId xmlns:a16="http://schemas.microsoft.com/office/drawing/2014/main" xmlns="" id="{A8A0868D-7450-B2DC-5A6A-A607E39122E3}"/>
              </a:ext>
            </a:extLst>
          </p:cNvPr>
          <p:cNvGrpSpPr/>
          <p:nvPr/>
        </p:nvGrpSpPr>
        <p:grpSpPr>
          <a:xfrm>
            <a:off x="990600" y="6743700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xmlns="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xmlns="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GB" sz="1700" dirty="0" smtClean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1700" dirty="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xmlns="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35">
            <a:extLst>
              <a:ext uri="{FF2B5EF4-FFF2-40B4-BE49-F238E27FC236}">
                <a16:creationId xmlns:a16="http://schemas.microsoft.com/office/drawing/2014/main" xmlns="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xmlns="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xmlns="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xmlns="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3" name="Group 7"/>
          <p:cNvGrpSpPr/>
          <p:nvPr/>
        </p:nvGrpSpPr>
        <p:grpSpPr>
          <a:xfrm>
            <a:off x="762000" y="7353300"/>
            <a:ext cx="992463" cy="992463"/>
            <a:chOff x="0" y="0"/>
            <a:chExt cx="812800" cy="812800"/>
          </a:xfrm>
        </p:grpSpPr>
        <p:sp>
          <p:nvSpPr>
            <p:cNvPr id="39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40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GB" sz="2699" dirty="0" smtClean="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9b</a:t>
              </a:r>
              <a:endParaRPr lang="en-US" sz="2699" dirty="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971800" y="1943100"/>
            <a:ext cx="12573000" cy="6953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19981011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0">
            <a:extLst>
              <a:ext uri="{FF2B5EF4-FFF2-40B4-BE49-F238E27FC236}">
                <a16:creationId xmlns:a16="http://schemas.microsoft.com/office/drawing/2014/main" xmlns="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xmlns="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xmlns="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3" name="Group 13">
            <a:extLst>
              <a:ext uri="{FF2B5EF4-FFF2-40B4-BE49-F238E27FC236}">
                <a16:creationId xmlns:a16="http://schemas.microsoft.com/office/drawing/2014/main" xmlns="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xmlns="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xmlns="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4" name="Group 16">
            <a:extLst>
              <a:ext uri="{FF2B5EF4-FFF2-40B4-BE49-F238E27FC236}">
                <a16:creationId xmlns:a16="http://schemas.microsoft.com/office/drawing/2014/main" xmlns="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xmlns="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xmlns="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5" name="Group 19">
            <a:extLst>
              <a:ext uri="{FF2B5EF4-FFF2-40B4-BE49-F238E27FC236}">
                <a16:creationId xmlns:a16="http://schemas.microsoft.com/office/drawing/2014/main" xmlns="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xmlns="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xmlns="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6" name="Group 22">
            <a:extLst>
              <a:ext uri="{FF2B5EF4-FFF2-40B4-BE49-F238E27FC236}">
                <a16:creationId xmlns:a16="http://schemas.microsoft.com/office/drawing/2014/main" xmlns="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xmlns="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xmlns="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7" name="Group 25">
            <a:extLst>
              <a:ext uri="{FF2B5EF4-FFF2-40B4-BE49-F238E27FC236}">
                <a16:creationId xmlns:a16="http://schemas.microsoft.com/office/drawing/2014/main" xmlns="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xmlns="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xmlns="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28">
            <a:extLst>
              <a:ext uri="{FF2B5EF4-FFF2-40B4-BE49-F238E27FC236}">
                <a16:creationId xmlns:a16="http://schemas.microsoft.com/office/drawing/2014/main" xmlns="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xmlns="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xmlns="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9" name="Group 31">
            <a:extLst>
              <a:ext uri="{FF2B5EF4-FFF2-40B4-BE49-F238E27FC236}">
                <a16:creationId xmlns:a16="http://schemas.microsoft.com/office/drawing/2014/main" xmlns="" id="{A8A0868D-7450-B2DC-5A6A-A607E39122E3}"/>
              </a:ext>
            </a:extLst>
          </p:cNvPr>
          <p:cNvGrpSpPr/>
          <p:nvPr/>
        </p:nvGrpSpPr>
        <p:grpSpPr>
          <a:xfrm>
            <a:off x="990600" y="6743700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xmlns="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xmlns="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GB" sz="1700" dirty="0" smtClean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1700" dirty="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xmlns="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35">
            <a:extLst>
              <a:ext uri="{FF2B5EF4-FFF2-40B4-BE49-F238E27FC236}">
                <a16:creationId xmlns:a16="http://schemas.microsoft.com/office/drawing/2014/main" xmlns="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xmlns="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xmlns="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xmlns="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3" name="Group 7"/>
          <p:cNvGrpSpPr/>
          <p:nvPr/>
        </p:nvGrpSpPr>
        <p:grpSpPr>
          <a:xfrm>
            <a:off x="762000" y="7353300"/>
            <a:ext cx="992463" cy="992463"/>
            <a:chOff x="0" y="0"/>
            <a:chExt cx="812800" cy="812800"/>
          </a:xfrm>
        </p:grpSpPr>
        <p:sp>
          <p:nvSpPr>
            <p:cNvPr id="39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40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GB" sz="2699" dirty="0" smtClean="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9c</a:t>
              </a:r>
              <a:endParaRPr lang="en-US" sz="2699" dirty="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743200" y="1866900"/>
            <a:ext cx="12954000" cy="718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19981011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>
            <a:extLst>
              <a:ext uri="{FF2B5EF4-FFF2-40B4-BE49-F238E27FC236}">
                <a16:creationId xmlns:a16="http://schemas.microsoft.com/office/drawing/2014/main" xmlns="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xmlns="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xmlns="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xmlns="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xmlns="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xmlns="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xmlns="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xmlns="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xmlns="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xmlns="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xmlns="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xmlns="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xmlns="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xmlns="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xmlns="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xmlns="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xmlns="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xmlns="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xmlns="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xmlns="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xmlns="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xmlns="" id="{E3560347-DE50-10F7-9905-7228E593D280}"/>
              </a:ext>
            </a:extLst>
          </p:cNvPr>
          <p:cNvGrpSpPr/>
          <p:nvPr/>
        </p:nvGrpSpPr>
        <p:grpSpPr>
          <a:xfrm>
            <a:off x="990600" y="6743700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xmlns="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xmlns="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GB" sz="1700" dirty="0" smtClean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1700" dirty="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xmlns="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xmlns="" id="{A36A5C58-00A3-2FE9-36E4-D92AAF44A0F5}"/>
              </a:ext>
            </a:extLst>
          </p:cNvPr>
          <p:cNvGrpSpPr/>
          <p:nvPr/>
        </p:nvGrpSpPr>
        <p:grpSpPr>
          <a:xfrm>
            <a:off x="17170670" y="16476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xmlns="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xmlns="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xmlns="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xmlns="" id="{746F2C30-13B1-3754-C147-D58A899BC459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/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grpSp>
        <p:nvGrpSpPr>
          <p:cNvPr id="39" name="Group 7"/>
          <p:cNvGrpSpPr/>
          <p:nvPr/>
        </p:nvGrpSpPr>
        <p:grpSpPr>
          <a:xfrm>
            <a:off x="762000" y="7429500"/>
            <a:ext cx="992463" cy="992463"/>
            <a:chOff x="0" y="0"/>
            <a:chExt cx="812800" cy="812800"/>
          </a:xfrm>
        </p:grpSpPr>
        <p:sp>
          <p:nvSpPr>
            <p:cNvPr id="40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41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GB" sz="2699" dirty="0" smtClean="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9d</a:t>
              </a:r>
              <a:endParaRPr lang="en-US" sz="2699" dirty="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124200" y="2019300"/>
            <a:ext cx="12573000" cy="718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39811873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xmlns="" id="{B9E2C662-B058-485B-BFC3-199F93F6D154}"/>
              </a:ext>
            </a:extLst>
          </p:cNvPr>
          <p:cNvGrpSpPr/>
          <p:nvPr/>
        </p:nvGrpSpPr>
        <p:grpSpPr>
          <a:xfrm>
            <a:off x="762000" y="8115300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xmlns="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xmlns="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GB" sz="2699" dirty="0" smtClean="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10</a:t>
              </a:r>
              <a:endParaRPr lang="en-US" sz="2699" dirty="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xmlns="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xmlns="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xmlns="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xmlns="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xmlns="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xmlns="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xmlns="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xmlns="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xmlns="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xmlns="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xmlns="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xmlns="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xmlns="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xmlns="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xmlns="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xmlns="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xmlns="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xmlns="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xmlns="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xmlns="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xmlns="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xmlns="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xmlns="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xmlns="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xmlns="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xmlns="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xmlns="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xmlns="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4" name="Group 29">
            <a:extLst>
              <a:ext uri="{FF2B5EF4-FFF2-40B4-BE49-F238E27FC236}">
                <a16:creationId xmlns:a16="http://schemas.microsoft.com/office/drawing/2014/main" xmlns="" id="{3FACABC2-D51C-1EF5-0D1B-34B410283F2E}"/>
              </a:ext>
            </a:extLst>
          </p:cNvPr>
          <p:cNvGrpSpPr/>
          <p:nvPr/>
        </p:nvGrpSpPr>
        <p:grpSpPr>
          <a:xfrm>
            <a:off x="990600" y="7429500"/>
            <a:ext cx="508158" cy="543805"/>
            <a:chOff x="0" y="0"/>
            <a:chExt cx="812800" cy="869819"/>
          </a:xfrm>
        </p:grpSpPr>
        <p:sp>
          <p:nvSpPr>
            <p:cNvPr id="35" name="Freeform 30">
              <a:extLst>
                <a:ext uri="{FF2B5EF4-FFF2-40B4-BE49-F238E27FC236}">
                  <a16:creationId xmlns:a16="http://schemas.microsoft.com/office/drawing/2014/main" xmlns="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1">
              <a:extLst>
                <a:ext uri="{FF2B5EF4-FFF2-40B4-BE49-F238E27FC236}">
                  <a16:creationId xmlns:a16="http://schemas.microsoft.com/office/drawing/2014/main" xmlns="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GB" sz="1700" dirty="0" smtClean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 dirty="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37" name="TextBox 36"/>
          <p:cNvSpPr txBox="1"/>
          <p:nvPr/>
        </p:nvSpPr>
        <p:spPr>
          <a:xfrm>
            <a:off x="2133600" y="2171700"/>
            <a:ext cx="12039600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GB" sz="3200" b="1" dirty="0" smtClean="0">
                <a:latin typeface="Times New Roman" pitchFamily="18" charset="0"/>
                <a:cs typeface="Times New Roman" pitchFamily="18" charset="0"/>
              </a:rPr>
              <a:t>Advantages:</a:t>
            </a:r>
            <a:endParaRPr lang="en-GB" sz="28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 Secure authentication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 Dynamic data handling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 Easy to use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 Scalable system</a:t>
            </a:r>
            <a:endParaRPr lang="en-GB" sz="32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GB" sz="3200" b="1" dirty="0" smtClean="0">
                <a:latin typeface="Times New Roman" pitchFamily="18" charset="0"/>
                <a:cs typeface="Times New Roman" pitchFamily="18" charset="0"/>
              </a:rPr>
              <a:t>Limitations:</a:t>
            </a:r>
            <a:endParaRPr lang="en-GB" sz="28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 No payment integration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 Basic UI design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 Limited features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8389767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335</TotalTime>
  <Words>747</Words>
  <Application>Microsoft Office PowerPoint</Application>
  <PresentationFormat>Custom</PresentationFormat>
  <Paragraphs>298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Calibri</vt:lpstr>
      <vt:lpstr>Cambria</vt:lpstr>
      <vt:lpstr>Bookman Old Style</vt:lpstr>
      <vt:lpstr>Times New Roman</vt:lpstr>
      <vt:lpstr>Gotham</vt:lpstr>
      <vt:lpstr>Gotham Bold Italics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hanvitha bingimalla</dc:creator>
  <cp:lastModifiedBy>HP</cp:lastModifiedBy>
  <cp:revision>18</cp:revision>
  <dcterms:created xsi:type="dcterms:W3CDTF">2006-08-16T00:00:00Z</dcterms:created>
  <dcterms:modified xsi:type="dcterms:W3CDTF">2026-05-05T18:14:43Z</dcterms:modified>
  <dc:identifier>DAHCaYqJ9OU</dc:identifier>
</cp:coreProperties>
</file>